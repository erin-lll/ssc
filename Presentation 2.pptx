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41605200" cy="26517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C4DC"/>
    <a:srgbClr val="1A4F82"/>
    <a:srgbClr val="E8F2FA"/>
    <a:srgbClr val="0070C0"/>
    <a:srgbClr val="C0392B"/>
    <a:srgbClr val="E07B1A"/>
    <a:srgbClr val="2D9E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1248D4-62BF-B3E3-344D-4912C283F3CE}" v="2" dt="2026-05-29T17:41:42.208"/>
    <p1510:client id="{E236BF50-18A9-0B35-F4AF-684D06C02D49}" v="3" dt="2026-05-31T13:12:34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00650" y="4339804"/>
            <a:ext cx="31203900" cy="9232054"/>
          </a:xfrm>
        </p:spPr>
        <p:txBody>
          <a:bodyPr anchor="b"/>
          <a:lstStyle>
            <a:lvl1pPr algn="ctr">
              <a:defRPr sz="17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00650" y="13927882"/>
            <a:ext cx="31203900" cy="6402279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545" indent="0" algn="ctr">
              <a:buNone/>
              <a:defRPr sz="6000"/>
            </a:lvl2pPr>
            <a:lvl3pPr marL="2743090" indent="0" algn="ctr">
              <a:buNone/>
              <a:defRPr sz="5400"/>
            </a:lvl3pPr>
            <a:lvl4pPr marL="4114635" indent="0" algn="ctr">
              <a:buNone/>
              <a:defRPr sz="4800"/>
            </a:lvl4pPr>
            <a:lvl5pPr marL="5486181" indent="0" algn="ctr">
              <a:buNone/>
              <a:defRPr sz="4800"/>
            </a:lvl5pPr>
            <a:lvl6pPr marL="6857726" indent="0" algn="ctr">
              <a:buNone/>
              <a:defRPr sz="4800"/>
            </a:lvl6pPr>
            <a:lvl7pPr marL="8229271" indent="0" algn="ctr">
              <a:buNone/>
              <a:defRPr sz="4800"/>
            </a:lvl7pPr>
            <a:lvl8pPr marL="9600816" indent="0" algn="ctr">
              <a:buNone/>
              <a:defRPr sz="4800"/>
            </a:lvl8pPr>
            <a:lvl9pPr marL="10972361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8690" y="6610990"/>
            <a:ext cx="35884485" cy="11030583"/>
          </a:xfrm>
        </p:spPr>
        <p:txBody>
          <a:bodyPr anchor="b"/>
          <a:lstStyle>
            <a:lvl1pPr>
              <a:defRPr sz="17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8690" y="17745926"/>
            <a:ext cx="35884485" cy="5800723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545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09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635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181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7726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271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0816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361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60358" y="7059085"/>
            <a:ext cx="17682210" cy="16825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62633" y="7059085"/>
            <a:ext cx="17682210" cy="16825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779" y="1411820"/>
            <a:ext cx="35884485" cy="51255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5779" y="6500498"/>
            <a:ext cx="17600948" cy="3185793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545" indent="0">
              <a:buNone/>
              <a:defRPr sz="6000" b="1"/>
            </a:lvl2pPr>
            <a:lvl3pPr marL="2743090" indent="0">
              <a:buNone/>
              <a:defRPr sz="5400" b="1"/>
            </a:lvl3pPr>
            <a:lvl4pPr marL="4114635" indent="0">
              <a:buNone/>
              <a:defRPr sz="4800" b="1"/>
            </a:lvl4pPr>
            <a:lvl5pPr marL="5486181" indent="0">
              <a:buNone/>
              <a:defRPr sz="4800" b="1"/>
            </a:lvl5pPr>
            <a:lvl6pPr marL="6857726" indent="0">
              <a:buNone/>
              <a:defRPr sz="4800" b="1"/>
            </a:lvl6pPr>
            <a:lvl7pPr marL="8229271" indent="0">
              <a:buNone/>
              <a:defRPr sz="4800" b="1"/>
            </a:lvl7pPr>
            <a:lvl8pPr marL="9600816" indent="0">
              <a:buNone/>
              <a:defRPr sz="4800" b="1"/>
            </a:lvl8pPr>
            <a:lvl9pPr marL="10972361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65779" y="9686292"/>
            <a:ext cx="17600948" cy="142470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062635" y="6500498"/>
            <a:ext cx="17687629" cy="3185793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545" indent="0">
              <a:buNone/>
              <a:defRPr sz="6000" b="1"/>
            </a:lvl2pPr>
            <a:lvl3pPr marL="2743090" indent="0">
              <a:buNone/>
              <a:defRPr sz="5400" b="1"/>
            </a:lvl3pPr>
            <a:lvl4pPr marL="4114635" indent="0">
              <a:buNone/>
              <a:defRPr sz="4800" b="1"/>
            </a:lvl4pPr>
            <a:lvl5pPr marL="5486181" indent="0">
              <a:buNone/>
              <a:defRPr sz="4800" b="1"/>
            </a:lvl5pPr>
            <a:lvl6pPr marL="6857726" indent="0">
              <a:buNone/>
              <a:defRPr sz="4800" b="1"/>
            </a:lvl6pPr>
            <a:lvl7pPr marL="8229271" indent="0">
              <a:buNone/>
              <a:defRPr sz="4800" b="1"/>
            </a:lvl7pPr>
            <a:lvl8pPr marL="9600816" indent="0">
              <a:buNone/>
              <a:defRPr sz="4800" b="1"/>
            </a:lvl8pPr>
            <a:lvl9pPr marL="10972361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062635" y="9686292"/>
            <a:ext cx="17687629" cy="142470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781" y="1767840"/>
            <a:ext cx="13418759" cy="618744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87629" y="3818047"/>
            <a:ext cx="21062633" cy="18844684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5781" y="7955281"/>
            <a:ext cx="13418759" cy="14738141"/>
          </a:xfrm>
        </p:spPr>
        <p:txBody>
          <a:bodyPr/>
          <a:lstStyle>
            <a:lvl1pPr marL="0" indent="0">
              <a:buNone/>
              <a:defRPr sz="4800"/>
            </a:lvl1pPr>
            <a:lvl2pPr marL="1371545" indent="0">
              <a:buNone/>
              <a:defRPr sz="4200"/>
            </a:lvl2pPr>
            <a:lvl3pPr marL="2743090" indent="0">
              <a:buNone/>
              <a:defRPr sz="3600"/>
            </a:lvl3pPr>
            <a:lvl4pPr marL="4114635" indent="0">
              <a:buNone/>
              <a:defRPr sz="3000"/>
            </a:lvl4pPr>
            <a:lvl5pPr marL="5486181" indent="0">
              <a:buNone/>
              <a:defRPr sz="3000"/>
            </a:lvl5pPr>
            <a:lvl6pPr marL="6857726" indent="0">
              <a:buNone/>
              <a:defRPr sz="3000"/>
            </a:lvl6pPr>
            <a:lvl7pPr marL="8229271" indent="0">
              <a:buNone/>
              <a:defRPr sz="3000"/>
            </a:lvl7pPr>
            <a:lvl8pPr marL="9600816" indent="0">
              <a:buNone/>
              <a:defRPr sz="3000"/>
            </a:lvl8pPr>
            <a:lvl9pPr marL="10972361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781" y="1767840"/>
            <a:ext cx="13418759" cy="618744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87629" y="3818047"/>
            <a:ext cx="21062633" cy="18844684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545" indent="0">
              <a:buNone/>
              <a:defRPr sz="8400"/>
            </a:lvl2pPr>
            <a:lvl3pPr marL="2743090" indent="0">
              <a:buNone/>
              <a:defRPr sz="7200"/>
            </a:lvl3pPr>
            <a:lvl4pPr marL="4114635" indent="0">
              <a:buNone/>
              <a:defRPr sz="6000"/>
            </a:lvl4pPr>
            <a:lvl5pPr marL="5486181" indent="0">
              <a:buNone/>
              <a:defRPr sz="6000"/>
            </a:lvl5pPr>
            <a:lvl6pPr marL="6857726" indent="0">
              <a:buNone/>
              <a:defRPr sz="6000"/>
            </a:lvl6pPr>
            <a:lvl7pPr marL="8229271" indent="0">
              <a:buNone/>
              <a:defRPr sz="6000"/>
            </a:lvl7pPr>
            <a:lvl8pPr marL="9600816" indent="0">
              <a:buNone/>
              <a:defRPr sz="6000"/>
            </a:lvl8pPr>
            <a:lvl9pPr marL="10972361" indent="0">
              <a:buNone/>
              <a:defRPr sz="6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5781" y="7955281"/>
            <a:ext cx="13418759" cy="14738141"/>
          </a:xfrm>
        </p:spPr>
        <p:txBody>
          <a:bodyPr/>
          <a:lstStyle>
            <a:lvl1pPr marL="0" indent="0">
              <a:buNone/>
              <a:defRPr sz="4800"/>
            </a:lvl1pPr>
            <a:lvl2pPr marL="1371545" indent="0">
              <a:buNone/>
              <a:defRPr sz="4200"/>
            </a:lvl2pPr>
            <a:lvl3pPr marL="2743090" indent="0">
              <a:buNone/>
              <a:defRPr sz="3600"/>
            </a:lvl3pPr>
            <a:lvl4pPr marL="4114635" indent="0">
              <a:buNone/>
              <a:defRPr sz="3000"/>
            </a:lvl4pPr>
            <a:lvl5pPr marL="5486181" indent="0">
              <a:buNone/>
              <a:defRPr sz="3000"/>
            </a:lvl5pPr>
            <a:lvl6pPr marL="6857726" indent="0">
              <a:buNone/>
              <a:defRPr sz="3000"/>
            </a:lvl6pPr>
            <a:lvl7pPr marL="8229271" indent="0">
              <a:buNone/>
              <a:defRPr sz="3000"/>
            </a:lvl7pPr>
            <a:lvl8pPr marL="9600816" indent="0">
              <a:buNone/>
              <a:defRPr sz="3000"/>
            </a:lvl8pPr>
            <a:lvl9pPr marL="10972361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773723" y="1411818"/>
            <a:ext cx="8971121" cy="224724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60359" y="1411818"/>
            <a:ext cx="26393299" cy="224724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60360" y="1411820"/>
            <a:ext cx="35884485" cy="5125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0360" y="7059085"/>
            <a:ext cx="35884485" cy="16825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60358" y="24577891"/>
            <a:ext cx="9361170" cy="1411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81725" y="24577891"/>
            <a:ext cx="14041755" cy="1411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383673" y="24577891"/>
            <a:ext cx="9361170" cy="1411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49E8-8DE7-911E-5BDC-D66635EA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125B0AA-11D6-8155-4E73-4EF6E04B875D}"/>
              </a:ext>
            </a:extLst>
          </p:cNvPr>
          <p:cNvSpPr/>
          <p:nvPr/>
        </p:nvSpPr>
        <p:spPr>
          <a:xfrm>
            <a:off x="10388002" y="2679057"/>
            <a:ext cx="19418012" cy="6941963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098D11-EAFD-3F73-B13C-99172D2F6137}"/>
              </a:ext>
            </a:extLst>
          </p:cNvPr>
          <p:cNvSpPr/>
          <p:nvPr/>
        </p:nvSpPr>
        <p:spPr>
          <a:xfrm flipH="1">
            <a:off x="548558" y="2648086"/>
            <a:ext cx="9342192" cy="4997687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357518-AB1F-C7A1-F18F-B5F3D81DA027}"/>
              </a:ext>
            </a:extLst>
          </p:cNvPr>
          <p:cNvSpPr/>
          <p:nvPr/>
        </p:nvSpPr>
        <p:spPr>
          <a:xfrm>
            <a:off x="-12292" y="-1886"/>
            <a:ext cx="41614724" cy="2253631"/>
          </a:xfrm>
          <a:prstGeom prst="rect">
            <a:avLst/>
          </a:prstGeom>
          <a:solidFill>
            <a:srgbClr val="E8F2FA"/>
          </a:solidFill>
          <a:ln>
            <a:solidFill>
              <a:srgbClr val="E8F2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pic>
        <p:nvPicPr>
          <p:cNvPr id="7" name="Picture 6" descr="Coat of arms of the University of Toronto - Wikipedia">
            <a:extLst>
              <a:ext uri="{FF2B5EF4-FFF2-40B4-BE49-F238E27FC236}">
                <a16:creationId xmlns:a16="http://schemas.microsoft.com/office/drawing/2014/main" id="{7168991A-8416-E438-8352-7119806C8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1" y="252476"/>
            <a:ext cx="2021683" cy="1693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C2ECCF-707F-AA82-761F-621B50B39EDC}"/>
              </a:ext>
            </a:extLst>
          </p:cNvPr>
          <p:cNvSpPr txBox="1"/>
          <p:nvPr/>
        </p:nvSpPr>
        <p:spPr>
          <a:xfrm>
            <a:off x="6651818" y="-7645"/>
            <a:ext cx="28117800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>
                <a:solidFill>
                  <a:srgbClr val="1A4F82"/>
                </a:solidFill>
                <a:latin typeface="Garamond"/>
              </a:rPr>
              <a:t>Clustering for Cardiovascular Risk Prediction in Type 2 Diabetes</a:t>
            </a:r>
            <a:endParaRPr lang="en-US" sz="4800">
              <a:latin typeface="Garamond"/>
            </a:endParaRPr>
          </a:p>
          <a:p>
            <a:pPr algn="ctr"/>
            <a:r>
              <a:rPr lang="en-US" sz="3200" b="1" i="1">
                <a:latin typeface="Garamond"/>
              </a:rPr>
              <a:t>Alisha Pham, Yujing Wei, Yuchen Liu</a:t>
            </a:r>
            <a:endParaRPr lang="en-US" sz="3200" b="1">
              <a:latin typeface="Garamond"/>
            </a:endParaRPr>
          </a:p>
          <a:p>
            <a:pPr algn="ctr"/>
            <a:r>
              <a:rPr lang="en-US" sz="2800">
                <a:latin typeface="Garamond"/>
              </a:rPr>
              <a:t>Department Advisors:: Marina Tawfik, Jennifer Campbell</a:t>
            </a:r>
            <a:endParaRPr lang="en-US" sz="2800" i="1">
              <a:latin typeface="Garamond"/>
            </a:endParaRPr>
          </a:p>
          <a:p>
            <a:pPr algn="ctr"/>
            <a:r>
              <a:rPr lang="en-US" sz="2800">
                <a:latin typeface="Garamond"/>
              </a:rPr>
              <a:t>Department of Computer Science, University of Toronto</a:t>
            </a:r>
            <a:endParaRPr lang="en-US" sz="2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756315-64BE-A539-9A84-3C7A47EEFB0F}"/>
              </a:ext>
            </a:extLst>
          </p:cNvPr>
          <p:cNvSpPr/>
          <p:nvPr/>
        </p:nvSpPr>
        <p:spPr>
          <a:xfrm rot="10800000" flipV="1">
            <a:off x="547601" y="2656491"/>
            <a:ext cx="9342192" cy="783330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Background</a:t>
            </a:r>
            <a:endParaRPr lang="en-US" sz="3000">
              <a:solidFill>
                <a:srgbClr val="1A4F82"/>
              </a:solidFill>
              <a:latin typeface="Garamon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982CE-03FE-341C-192D-A3B3E3F164E9}"/>
              </a:ext>
            </a:extLst>
          </p:cNvPr>
          <p:cNvSpPr txBox="1"/>
          <p:nvPr/>
        </p:nvSpPr>
        <p:spPr>
          <a:xfrm>
            <a:off x="1018064" y="3836348"/>
            <a:ext cx="78486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9439">
              <a:latin typeface="Garamon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625C2-AB05-D62C-6DD7-BE395B602226}"/>
              </a:ext>
            </a:extLst>
          </p:cNvPr>
          <p:cNvSpPr txBox="1"/>
          <p:nvPr/>
        </p:nvSpPr>
        <p:spPr>
          <a:xfrm>
            <a:off x="561810" y="3431566"/>
            <a:ext cx="9205213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latin typeface="Garamond"/>
                <a:ea typeface="Calibri"/>
                <a:cs typeface="Calibri"/>
              </a:rPr>
              <a:t>Type 2 Diabetes (T2D) is a global epidemic affecting over </a:t>
            </a:r>
            <a:r>
              <a:rPr lang="en-US" sz="2800" b="1">
                <a:latin typeface="Garamond"/>
                <a:ea typeface="Calibri"/>
                <a:cs typeface="Calibri"/>
              </a:rPr>
              <a:t>747 million</a:t>
            </a:r>
            <a:r>
              <a:rPr lang="en-US" sz="2800">
                <a:latin typeface="Garamond"/>
                <a:ea typeface="Calibri"/>
                <a:cs typeface="Calibri"/>
              </a:rPr>
              <a:t> people worldwide. Patients with T2D face </a:t>
            </a:r>
            <a:r>
              <a:rPr lang="en-US" sz="2800" b="1">
                <a:latin typeface="Garamond"/>
                <a:ea typeface="Calibri"/>
                <a:cs typeface="Calibri"/>
              </a:rPr>
              <a:t>2-4x elevated cardiovascular risk</a:t>
            </a:r>
            <a:r>
              <a:rPr lang="en-US" sz="2800">
                <a:latin typeface="Garamond"/>
                <a:ea typeface="Calibri"/>
                <a:cs typeface="Calibri"/>
              </a:rPr>
              <a:t> compared to the general population.</a:t>
            </a:r>
          </a:p>
          <a:p>
            <a:endParaRPr lang="en-US" sz="2800">
              <a:latin typeface="Garamond"/>
              <a:ea typeface="Calibri"/>
              <a:cs typeface="Calibri"/>
            </a:endParaRPr>
          </a:p>
          <a:p>
            <a:r>
              <a:rPr lang="en-US" sz="2800" dirty="0">
                <a:latin typeface="Garamond"/>
                <a:ea typeface="Calibri"/>
                <a:cs typeface="Calibri"/>
              </a:rPr>
              <a:t>Existing models integrating routine clinical data achieve a moderate discriminative performance (C-Index of 0.74). Critically,</a:t>
            </a:r>
            <a:r>
              <a:rPr lang="en-US" sz="2800" b="1">
                <a:latin typeface="Garamond"/>
                <a:ea typeface="Calibri"/>
                <a:cs typeface="Calibri"/>
              </a:rPr>
              <a:t> few study </a:t>
            </a:r>
            <a:r>
              <a:rPr lang="en-US" sz="2800" dirty="0">
                <a:latin typeface="Garamond"/>
                <a:ea typeface="Calibri"/>
                <a:cs typeface="Calibri"/>
              </a:rPr>
              <a:t>has combined both routine clinical data and unsupervised clustering to stratify cardiovascular risk.</a:t>
            </a:r>
          </a:p>
          <a:p>
            <a:endParaRPr lang="en-US" sz="3600">
              <a:latin typeface="Garamond"/>
              <a:ea typeface="Calibri"/>
              <a:cs typeface="Calibri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A422BF-B7D7-9BFC-3BC7-1448733DA9F9}"/>
              </a:ext>
            </a:extLst>
          </p:cNvPr>
          <p:cNvSpPr/>
          <p:nvPr/>
        </p:nvSpPr>
        <p:spPr>
          <a:xfrm>
            <a:off x="10384478" y="2686052"/>
            <a:ext cx="19418209" cy="715806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err="1">
                <a:solidFill>
                  <a:srgbClr val="1A4F82"/>
                </a:solidFill>
                <a:latin typeface="Garamond"/>
              </a:rPr>
              <a:t>Methodolo</a:t>
            </a:r>
            <a:r>
              <a:rPr lang="en-US" sz="3000" b="1">
                <a:solidFill>
                  <a:srgbClr val="1A4F82"/>
                </a:solidFill>
                <a:latin typeface="Garamond"/>
              </a:rPr>
              <a:t>gy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CBC0AD-0C99-B14D-8878-8E140E68AA27}"/>
              </a:ext>
            </a:extLst>
          </p:cNvPr>
          <p:cNvSpPr txBox="1"/>
          <p:nvPr/>
        </p:nvSpPr>
        <p:spPr>
          <a:xfrm>
            <a:off x="10655220" y="3441217"/>
            <a:ext cx="9510640" cy="61757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83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3600">
              <a:latin typeface="Garamond"/>
              <a:ea typeface="Calibri"/>
              <a:cs typeface="Calibri"/>
            </a:endParaRPr>
          </a:p>
          <a:p>
            <a:endParaRPr lang="en-US" sz="36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3583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3583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3583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r>
              <a:rPr lang="en-US" sz="2800" b="1">
                <a:solidFill>
                  <a:srgbClr val="1A4F82"/>
                </a:solidFill>
                <a:latin typeface="Garamond"/>
                <a:ea typeface="Calibri"/>
                <a:cs typeface="Calibri"/>
              </a:rPr>
              <a:t>Optimization Framework</a:t>
            </a:r>
            <a:endParaRPr lang="en-US" sz="1632"/>
          </a:p>
          <a:p>
            <a:r>
              <a:rPr lang="en-US" sz="2800">
                <a:solidFill>
                  <a:srgbClr val="0A0A0A"/>
                </a:solidFill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For each hyperparameter combination:</a:t>
            </a:r>
          </a:p>
          <a:p>
            <a:pPr marL="685165" indent="-685165">
              <a:buAutoNum type="arabicPeriod"/>
            </a:pPr>
            <a:r>
              <a:rPr lang="en-US" sz="2800"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Dimension Reduction — Fit </a:t>
            </a:r>
            <a:r>
              <a:rPr lang="en-US" sz="2800" b="1"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UMAP </a:t>
            </a:r>
            <a:r>
              <a:rPr lang="en-US" sz="2800"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on training, Transform validation</a:t>
            </a:r>
          </a:p>
          <a:p>
            <a:pPr marL="685165" indent="-685165">
              <a:buAutoNum type="arabicPeriod"/>
            </a:pPr>
            <a:r>
              <a:rPr lang="en-US" sz="2800"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Clustering —</a:t>
            </a:r>
            <a:r>
              <a:rPr lang="en-US" sz="2800" b="1"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 K-Means </a:t>
            </a:r>
            <a:r>
              <a:rPr lang="en-US" sz="2800"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on UMAP training embeddings, Assign </a:t>
            </a:r>
            <a:r>
              <a:rPr lang="en-US" sz="2800" err="1"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validatio</a:t>
            </a:r>
            <a:r>
              <a:rPr lang="en-US" sz="2800">
                <a:highlight>
                  <a:srgbClr val="FFFFFF"/>
                </a:highlight>
                <a:latin typeface="Garamond"/>
                <a:ea typeface="Calibri"/>
                <a:cs typeface="Calibri"/>
              </a:rPr>
              <a:t>n patients to nearest centroid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FA40F3-E2EE-970C-E41E-D51477BFD4D8}"/>
              </a:ext>
            </a:extLst>
          </p:cNvPr>
          <p:cNvSpPr/>
          <p:nvPr/>
        </p:nvSpPr>
        <p:spPr>
          <a:xfrm>
            <a:off x="10405257" y="10096471"/>
            <a:ext cx="19385598" cy="5686889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F74CAE-77CD-EA4B-D59D-ACB05E9274D2}"/>
              </a:ext>
            </a:extLst>
          </p:cNvPr>
          <p:cNvSpPr/>
          <p:nvPr/>
        </p:nvSpPr>
        <p:spPr>
          <a:xfrm>
            <a:off x="10401139" y="10096414"/>
            <a:ext cx="19384891" cy="795640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Identified Phenotypes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278599-9C10-455E-FECE-CE27BE75E968}"/>
              </a:ext>
            </a:extLst>
          </p:cNvPr>
          <p:cNvSpPr/>
          <p:nvPr/>
        </p:nvSpPr>
        <p:spPr>
          <a:xfrm>
            <a:off x="10969668" y="10959503"/>
            <a:ext cx="3890693" cy="4062255"/>
          </a:xfrm>
          <a:prstGeom prst="rect">
            <a:avLst/>
          </a:prstGeom>
          <a:solidFill>
            <a:schemeClr val="bg1"/>
          </a:solidFill>
          <a:ln>
            <a:solidFill>
              <a:srgbClr val="1A4F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6BCF9D-6890-4F6F-21BC-061911F12F76}"/>
              </a:ext>
            </a:extLst>
          </p:cNvPr>
          <p:cNvSpPr/>
          <p:nvPr/>
        </p:nvSpPr>
        <p:spPr>
          <a:xfrm>
            <a:off x="16003227" y="10994349"/>
            <a:ext cx="3786157" cy="4044831"/>
          </a:xfrm>
          <a:prstGeom prst="rect">
            <a:avLst/>
          </a:prstGeom>
          <a:solidFill>
            <a:schemeClr val="bg1"/>
          </a:solidFill>
          <a:ln>
            <a:solidFill>
              <a:srgbClr val="2D9E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700C9C-CC3D-06FB-3CB7-95103C19FBB3}"/>
              </a:ext>
            </a:extLst>
          </p:cNvPr>
          <p:cNvSpPr/>
          <p:nvPr/>
        </p:nvSpPr>
        <p:spPr>
          <a:xfrm>
            <a:off x="20727351" y="11011428"/>
            <a:ext cx="3786156" cy="3992570"/>
          </a:xfrm>
          <a:prstGeom prst="rect">
            <a:avLst/>
          </a:prstGeom>
          <a:solidFill>
            <a:schemeClr val="bg1"/>
          </a:solidFill>
          <a:ln>
            <a:solidFill>
              <a:srgbClr val="E07B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62E4F67-EA28-8DDD-4676-7B97B5C7DA0E}"/>
              </a:ext>
            </a:extLst>
          </p:cNvPr>
          <p:cNvSpPr/>
          <p:nvPr/>
        </p:nvSpPr>
        <p:spPr>
          <a:xfrm>
            <a:off x="25429823" y="10976582"/>
            <a:ext cx="3821001" cy="4062253"/>
          </a:xfrm>
          <a:prstGeom prst="rect">
            <a:avLst/>
          </a:prstGeom>
          <a:solidFill>
            <a:schemeClr val="bg1"/>
          </a:solidFill>
          <a:ln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9D709C-3006-C681-6CBA-83345D9CBFE4}"/>
              </a:ext>
            </a:extLst>
          </p:cNvPr>
          <p:cNvSpPr txBox="1"/>
          <p:nvPr/>
        </p:nvSpPr>
        <p:spPr>
          <a:xfrm>
            <a:off x="10964869" y="10951515"/>
            <a:ext cx="4906110" cy="3822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1A4F82"/>
                </a:solidFill>
                <a:latin typeface="Garamond"/>
                <a:cs typeface="Segoe UI"/>
              </a:rPr>
              <a:t>Low Risk</a:t>
            </a:r>
            <a:r>
              <a:rPr lang="en-US" sz="2800" b="1">
                <a:solidFill>
                  <a:srgbClr val="1A4F82"/>
                </a:solidFill>
                <a:latin typeface="Garamond"/>
                <a:cs typeface="Segoe UI"/>
              </a:rPr>
              <a:t> </a:t>
            </a:r>
            <a:endParaRPr lang="en-US" sz="2800" b="1">
              <a:solidFill>
                <a:srgbClr val="1A4F82"/>
              </a:solidFill>
            </a:endParaRPr>
          </a:p>
          <a:p>
            <a:pPr algn="ctr"/>
            <a:endParaRPr lang="en-US" sz="19439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2014AB-E737-BCD1-63AA-9AC56DA6D9E7}"/>
              </a:ext>
            </a:extLst>
          </p:cNvPr>
          <p:cNvSpPr txBox="1"/>
          <p:nvPr/>
        </p:nvSpPr>
        <p:spPr>
          <a:xfrm>
            <a:off x="15998433" y="11038298"/>
            <a:ext cx="4906110" cy="3822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2D9E3A"/>
                </a:solidFill>
                <a:latin typeface="Garamond"/>
                <a:cs typeface="Segoe UI"/>
              </a:rPr>
              <a:t>AV Conduction Delay</a:t>
            </a:r>
            <a:endParaRPr lang="en-US" sz="2800">
              <a:solidFill>
                <a:srgbClr val="2D9E3A"/>
              </a:solidFill>
            </a:endParaRPr>
          </a:p>
          <a:p>
            <a:pPr algn="ctr"/>
            <a:endParaRPr lang="en-US" sz="19439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04A827-062D-FA54-7F63-553E1DC2FA76}"/>
              </a:ext>
            </a:extLst>
          </p:cNvPr>
          <p:cNvSpPr txBox="1"/>
          <p:nvPr/>
        </p:nvSpPr>
        <p:spPr>
          <a:xfrm>
            <a:off x="20617980" y="10951170"/>
            <a:ext cx="7438290" cy="3822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E07B1A"/>
                </a:solidFill>
                <a:latin typeface="Garamond"/>
                <a:cs typeface="Segoe UI"/>
              </a:rPr>
              <a:t>Ventricular </a:t>
            </a:r>
            <a:r>
              <a:rPr lang="en-US" sz="2800" err="1">
                <a:solidFill>
                  <a:srgbClr val="E07B1A"/>
                </a:solidFill>
                <a:latin typeface="Garamond"/>
                <a:cs typeface="Segoe UI"/>
              </a:rPr>
              <a:t>Remodelling</a:t>
            </a:r>
            <a:endParaRPr lang="en-US" sz="2800" err="1">
              <a:solidFill>
                <a:srgbClr val="E07B1A"/>
              </a:solidFill>
            </a:endParaRPr>
          </a:p>
          <a:p>
            <a:pPr algn="ctr"/>
            <a:endParaRPr lang="en-US" sz="19439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3D3F02-CE60-97EF-43DB-EB59A31F388F}"/>
              </a:ext>
            </a:extLst>
          </p:cNvPr>
          <p:cNvSpPr txBox="1"/>
          <p:nvPr/>
        </p:nvSpPr>
        <p:spPr>
          <a:xfrm>
            <a:off x="25425023" y="10968589"/>
            <a:ext cx="7438290" cy="38225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solidFill>
                  <a:srgbClr val="C0392B"/>
                </a:solidFill>
                <a:latin typeface="Garamond"/>
                <a:cs typeface="Segoe UI"/>
              </a:rPr>
              <a:t>Cardio Renal Anemia</a:t>
            </a:r>
          </a:p>
          <a:p>
            <a:pPr algn="ctr"/>
            <a:endParaRPr lang="en-US" sz="19439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536EE2-4D1D-BB3C-F3CF-133BEB8A3A9A}"/>
              </a:ext>
            </a:extLst>
          </p:cNvPr>
          <p:cNvSpPr/>
          <p:nvPr/>
        </p:nvSpPr>
        <p:spPr>
          <a:xfrm>
            <a:off x="10369905" y="16259044"/>
            <a:ext cx="19461880" cy="9260320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C19A43C-142B-F987-0991-CBDBB5CEB4F3}"/>
              </a:ext>
            </a:extLst>
          </p:cNvPr>
          <p:cNvSpPr/>
          <p:nvPr/>
        </p:nvSpPr>
        <p:spPr>
          <a:xfrm>
            <a:off x="10362859" y="16241625"/>
            <a:ext cx="19461449" cy="725957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Kaplan-Meier MACE-Free Survival by Phenotype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3C226F-81BD-4DFC-C779-117B153FA34A}"/>
              </a:ext>
            </a:extLst>
          </p:cNvPr>
          <p:cNvSpPr txBox="1"/>
          <p:nvPr/>
        </p:nvSpPr>
        <p:spPr>
          <a:xfrm>
            <a:off x="10450685" y="24381783"/>
            <a:ext cx="1944646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>
                <a:latin typeface="Garamond"/>
              </a:rPr>
              <a:t>Figure. Kaplan-Meier estimates of MACE-free survival stratified by phenotypes. Shaded bands represent 95% confidence intervals. Curves are highly stratified (p &lt; 0.0001), confirming distinct risk profiles across the four phenotypes.</a:t>
            </a:r>
            <a:endParaRPr lang="en-US" sz="2800" i="1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6BB3C49-3BC5-9882-59BB-F09AB07C324B}"/>
              </a:ext>
            </a:extLst>
          </p:cNvPr>
          <p:cNvSpPr/>
          <p:nvPr/>
        </p:nvSpPr>
        <p:spPr>
          <a:xfrm>
            <a:off x="30376682" y="2665172"/>
            <a:ext cx="10786102" cy="7412005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D17A43-4277-DE01-D747-29D33EB5347D}"/>
              </a:ext>
            </a:extLst>
          </p:cNvPr>
          <p:cNvSpPr/>
          <p:nvPr/>
        </p:nvSpPr>
        <p:spPr>
          <a:xfrm rot="10800000" flipV="1">
            <a:off x="30386601" y="2686066"/>
            <a:ext cx="10772796" cy="793806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Metric Results</a:t>
            </a:r>
            <a:endParaRPr lang="en-US" sz="3000">
              <a:solidFill>
                <a:srgbClr val="1A4F82"/>
              </a:solidFill>
              <a:latin typeface="Aptos" panose="020B0004020202020204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61288B-313E-0403-4E3F-010EEEF6A06C}"/>
              </a:ext>
            </a:extLst>
          </p:cNvPr>
          <p:cNvSpPr txBox="1"/>
          <p:nvPr/>
        </p:nvSpPr>
        <p:spPr>
          <a:xfrm>
            <a:off x="32266845" y="3874314"/>
            <a:ext cx="821531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9439">
              <a:latin typeface="Garamond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811A18-4BD8-9062-DBED-ED02174C79A6}"/>
              </a:ext>
            </a:extLst>
          </p:cNvPr>
          <p:cNvSpPr txBox="1"/>
          <p:nvPr/>
        </p:nvSpPr>
        <p:spPr>
          <a:xfrm>
            <a:off x="30386601" y="3438591"/>
            <a:ext cx="10779220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1A4F82"/>
                </a:solidFill>
                <a:latin typeface="Garamond"/>
                <a:ea typeface="Calibri"/>
                <a:cs typeface="Calibri"/>
              </a:rPr>
              <a:t>Risk Classification — Logistic Regression</a:t>
            </a: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r>
              <a:rPr lang="en-US" sz="2800" b="1">
                <a:solidFill>
                  <a:srgbClr val="1A4F82"/>
                </a:solidFill>
                <a:latin typeface="Garamond"/>
                <a:ea typeface="Calibri"/>
                <a:cs typeface="Calibri"/>
              </a:rPr>
              <a:t>Survival Validation — Cox Proportional Hazards Model</a:t>
            </a:r>
            <a:endParaRPr lang="en-US" sz="1600"/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b="1">
              <a:solidFill>
                <a:srgbClr val="1A4F82"/>
              </a:solidFill>
              <a:latin typeface="Garamond"/>
              <a:ea typeface="Calibri"/>
              <a:cs typeface="Calibri"/>
            </a:endParaRPr>
          </a:p>
          <a:p>
            <a:endParaRPr lang="en-US" sz="2800" i="1">
              <a:solidFill>
                <a:srgbClr val="000000"/>
              </a:solidFill>
              <a:latin typeface="Garamond"/>
              <a:ea typeface="Calibri"/>
              <a:cs typeface="Calibri"/>
            </a:endParaRPr>
          </a:p>
          <a:p>
            <a:pPr algn="ctr"/>
            <a:r>
              <a:rPr lang="en-US" sz="2800" i="1">
                <a:latin typeface="Garamond"/>
                <a:ea typeface="Calibri"/>
                <a:cs typeface="Calibri"/>
              </a:rPr>
              <a:t>Final performance reported exclusively on unseen test set.</a:t>
            </a:r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8892724-E820-753C-3881-191EC53468D6}"/>
              </a:ext>
            </a:extLst>
          </p:cNvPr>
          <p:cNvSpPr/>
          <p:nvPr/>
        </p:nvSpPr>
        <p:spPr>
          <a:xfrm>
            <a:off x="30352499" y="10331027"/>
            <a:ext cx="10765147" cy="7651439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970FB65-7E14-9A42-B37D-133AF5F0549D}"/>
              </a:ext>
            </a:extLst>
          </p:cNvPr>
          <p:cNvSpPr/>
          <p:nvPr/>
        </p:nvSpPr>
        <p:spPr>
          <a:xfrm rot="10800000" flipV="1">
            <a:off x="30352499" y="10309714"/>
            <a:ext cx="10761427" cy="536488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Conclusions</a:t>
            </a:r>
            <a:endParaRPr lang="en-US" sz="3000">
              <a:solidFill>
                <a:srgbClr val="1A4F82"/>
              </a:solidFill>
              <a:latin typeface="Aptos" panose="020B0004020202020204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A6450D-1717-EFC0-D9CF-F65536CE68B9}"/>
              </a:ext>
            </a:extLst>
          </p:cNvPr>
          <p:cNvSpPr txBox="1"/>
          <p:nvPr/>
        </p:nvSpPr>
        <p:spPr>
          <a:xfrm>
            <a:off x="32242677" y="13449499"/>
            <a:ext cx="824626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9439">
              <a:latin typeface="Garamond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0552E2A-2E1A-ACC6-1939-CF5A2DDC67B5}"/>
              </a:ext>
            </a:extLst>
          </p:cNvPr>
          <p:cNvSpPr/>
          <p:nvPr/>
        </p:nvSpPr>
        <p:spPr>
          <a:xfrm>
            <a:off x="30323974" y="18475650"/>
            <a:ext cx="10764259" cy="3859030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0882759-B44C-5541-6371-1994DF7A88E4}"/>
              </a:ext>
            </a:extLst>
          </p:cNvPr>
          <p:cNvSpPr/>
          <p:nvPr/>
        </p:nvSpPr>
        <p:spPr>
          <a:xfrm rot="10800000" flipV="1">
            <a:off x="30329164" y="18480209"/>
            <a:ext cx="10738194" cy="660240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Limitations</a:t>
            </a:r>
            <a:endParaRPr lang="en-US" sz="3000">
              <a:solidFill>
                <a:srgbClr val="1A4F82"/>
              </a:solidFill>
              <a:latin typeface="Aptos" panose="020B0004020202020204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49949F-FD0E-A34E-F261-16EC24AB578F}"/>
              </a:ext>
            </a:extLst>
          </p:cNvPr>
          <p:cNvSpPr txBox="1"/>
          <p:nvPr/>
        </p:nvSpPr>
        <p:spPr>
          <a:xfrm>
            <a:off x="32248917" y="22555128"/>
            <a:ext cx="824626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9439">
              <a:latin typeface="Garamond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E4C51EC-A7B7-300E-4A45-3B6D07FD3779}"/>
              </a:ext>
            </a:extLst>
          </p:cNvPr>
          <p:cNvSpPr/>
          <p:nvPr/>
        </p:nvSpPr>
        <p:spPr>
          <a:xfrm>
            <a:off x="30360683" y="22927359"/>
            <a:ext cx="10764259" cy="3218615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ED1AAAC-513F-E691-AED1-25ADFC1BA3BE}"/>
              </a:ext>
            </a:extLst>
          </p:cNvPr>
          <p:cNvSpPr/>
          <p:nvPr/>
        </p:nvSpPr>
        <p:spPr>
          <a:xfrm rot="10800000" flipV="1">
            <a:off x="30360682" y="22927359"/>
            <a:ext cx="10756963" cy="642820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Future Work</a:t>
            </a:r>
            <a:endParaRPr lang="en-US" sz="3000">
              <a:solidFill>
                <a:srgbClr val="1A4F82"/>
              </a:solidFill>
              <a:latin typeface="Aptos" panose="020B000402020202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464F10-0135-65B1-7E71-C05BC6FE3014}"/>
              </a:ext>
            </a:extLst>
          </p:cNvPr>
          <p:cNvSpPr txBox="1"/>
          <p:nvPr/>
        </p:nvSpPr>
        <p:spPr>
          <a:xfrm>
            <a:off x="687366" y="20124576"/>
            <a:ext cx="78486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9439">
              <a:latin typeface="Garamond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3FDC897-C370-697E-8AF1-5D37984A681C}"/>
              </a:ext>
            </a:extLst>
          </p:cNvPr>
          <p:cNvSpPr/>
          <p:nvPr/>
        </p:nvSpPr>
        <p:spPr>
          <a:xfrm>
            <a:off x="557194" y="19672110"/>
            <a:ext cx="9305085" cy="4181527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>
              <a:latin typeface="Garamond"/>
              <a:ea typeface="EB Garamond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D34AD7D-1F96-8D2D-8DC7-C098C2B9C308}"/>
              </a:ext>
            </a:extLst>
          </p:cNvPr>
          <p:cNvSpPr/>
          <p:nvPr/>
        </p:nvSpPr>
        <p:spPr>
          <a:xfrm rot="10800000" flipV="1">
            <a:off x="556742" y="19683815"/>
            <a:ext cx="9295262" cy="590557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References</a:t>
            </a:r>
            <a:endParaRPr lang="en-US" sz="3000">
              <a:solidFill>
                <a:srgbClr val="1A4F82"/>
              </a:solidFill>
              <a:latin typeface="Aptos" panose="020B00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928C6-1621-696E-049E-42AE14C5C08F}"/>
              </a:ext>
            </a:extLst>
          </p:cNvPr>
          <p:cNvSpPr txBox="1"/>
          <p:nvPr/>
        </p:nvSpPr>
        <p:spPr>
          <a:xfrm>
            <a:off x="10667609" y="3588018"/>
            <a:ext cx="9939336" cy="330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sz="2800" b="1">
                <a:solidFill>
                  <a:srgbClr val="1A4F82"/>
                </a:solidFill>
                <a:latin typeface="Garamond"/>
                <a:ea typeface="Segoe UI"/>
                <a:cs typeface="Segoe UI"/>
              </a:rPr>
              <a:t>Preprocessing</a:t>
            </a:r>
            <a:r>
              <a:rPr lang="en-US" sz="2800">
                <a:latin typeface="Garamond"/>
                <a:ea typeface="Segoe UI"/>
                <a:cs typeface="Segoe UI"/>
              </a:rPr>
              <a:t>​</a:t>
            </a:r>
          </a:p>
          <a:p>
            <a:pPr marL="513715" lvl="0" indent="-513715" rtl="0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60/20/20 Split Stratified by MACE​</a:t>
            </a:r>
          </a:p>
          <a:p>
            <a:pPr marL="513715" lvl="0" indent="-513715" rtl="0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Resampled if missingness &gt;5% across sets​</a:t>
            </a:r>
          </a:p>
          <a:p>
            <a:pPr marL="513715" lvl="0" indent="-513715" rtl="0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Features with &gt;40% missingness excluded​</a:t>
            </a:r>
          </a:p>
          <a:p>
            <a:pPr marL="513715" lvl="0" indent="-513715" rtl="0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Unsupervised MICE imputation (Bayesian Ridge)​</a:t>
            </a:r>
          </a:p>
          <a:p>
            <a:pPr marL="513715" lvl="0" indent="-513715" rtl="0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Skewness correction (log1p/sqrt/identity)​</a:t>
            </a:r>
          </a:p>
          <a:p>
            <a:pPr marL="513715" lvl="0" indent="-513715" rtl="0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Z-score scaling for continuous features</a:t>
            </a:r>
          </a:p>
          <a:p>
            <a:pPr algn="ctr"/>
            <a:endParaRPr lang="en-US" sz="136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8EB9C-138D-0CF3-0F4D-8CE6B5B20697}"/>
              </a:ext>
            </a:extLst>
          </p:cNvPr>
          <p:cNvSpPr txBox="1"/>
          <p:nvPr/>
        </p:nvSpPr>
        <p:spPr>
          <a:xfrm>
            <a:off x="18389638" y="3588018"/>
            <a:ext cx="9857695" cy="330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sz="2800" b="1">
                <a:solidFill>
                  <a:srgbClr val="1A4F82"/>
                </a:solidFill>
                <a:latin typeface="Garamond"/>
                <a:ea typeface="Segoe UI"/>
                <a:cs typeface="Segoe UI"/>
              </a:rPr>
              <a:t>Dual Gate Feature Selection</a:t>
            </a:r>
            <a:r>
              <a:rPr lang="en-US" sz="2800">
                <a:latin typeface="Garamond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2800">
                <a:latin typeface="Garamond"/>
                <a:ea typeface="Segoe UI"/>
                <a:cs typeface="Segoe UI"/>
              </a:rPr>
              <a:t>Continuous Features​</a:t>
            </a:r>
          </a:p>
          <a:p>
            <a:pPr marL="513715" indent="-513715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Low variance excluded (SD &lt; 0.01)​</a:t>
            </a:r>
          </a:p>
          <a:p>
            <a:pPr marL="513715" lvl="0" indent="-513715" rtl="0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Mann-Whitney U or Welch's t-test​</a:t>
            </a:r>
          </a:p>
          <a:p>
            <a:pPr rtl="0"/>
            <a:r>
              <a:rPr lang="en-US" sz="2800">
                <a:latin typeface="Garamond"/>
                <a:ea typeface="Segoe UI"/>
                <a:cs typeface="Segoe UI"/>
              </a:rPr>
              <a:t>Binary Features​</a:t>
            </a:r>
          </a:p>
          <a:p>
            <a:pPr marL="513715" indent="-513715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Low prevalence excluded (&lt;5%, &gt;95%)​</a:t>
            </a:r>
          </a:p>
          <a:p>
            <a:pPr marL="513715" lvl="0" indent="-513715" rtl="0">
              <a:buFont typeface="Arial,Sans-Serif"/>
              <a:buChar char="•"/>
            </a:pPr>
            <a:r>
              <a:rPr lang="en-US" sz="2800">
                <a:latin typeface="Garamond"/>
                <a:ea typeface="Arial"/>
                <a:cs typeface="Arial"/>
              </a:rPr>
              <a:t>Chi-squared test</a:t>
            </a:r>
          </a:p>
          <a:p>
            <a:pPr algn="ctr"/>
            <a:endParaRPr lang="en-US" sz="136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47B70C-958B-B6C5-16F3-86FCD8489399}"/>
              </a:ext>
            </a:extLst>
          </p:cNvPr>
          <p:cNvSpPr/>
          <p:nvPr/>
        </p:nvSpPr>
        <p:spPr>
          <a:xfrm flipH="1">
            <a:off x="548152" y="8034380"/>
            <a:ext cx="9324386" cy="3760154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A076E0-4A1F-FD8D-B75C-ABFCB39CA919}"/>
              </a:ext>
            </a:extLst>
          </p:cNvPr>
          <p:cNvSpPr/>
          <p:nvPr/>
        </p:nvSpPr>
        <p:spPr>
          <a:xfrm rot="10800000" flipV="1">
            <a:off x="557606" y="8042788"/>
            <a:ext cx="9314931" cy="783330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Research </a:t>
            </a:r>
            <a:r>
              <a:rPr lang="en-US" sz="3000" b="1" err="1">
                <a:solidFill>
                  <a:srgbClr val="1A4F82"/>
                </a:solidFill>
                <a:latin typeface="Garamond"/>
              </a:rPr>
              <a:t>Questi</a:t>
            </a:r>
            <a:r>
              <a:rPr lang="en-US" sz="3000" b="1">
                <a:solidFill>
                  <a:srgbClr val="1A4F82"/>
                </a:solidFill>
                <a:latin typeface="Garamond"/>
              </a:rPr>
              <a:t>ons</a:t>
            </a:r>
            <a:endParaRPr lang="en-US" sz="3000">
              <a:solidFill>
                <a:srgbClr val="1A4F82"/>
              </a:solidFill>
              <a:latin typeface="Garamon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A07AEF-04D8-8E95-B984-C07D5572AF9F}"/>
              </a:ext>
            </a:extLst>
          </p:cNvPr>
          <p:cNvSpPr txBox="1"/>
          <p:nvPr/>
        </p:nvSpPr>
        <p:spPr>
          <a:xfrm>
            <a:off x="1017385" y="9222646"/>
            <a:ext cx="78486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9439">
              <a:latin typeface="Garamon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9C0BA4-7408-BC6E-F966-8C6ABDE41DEC}"/>
              </a:ext>
            </a:extLst>
          </p:cNvPr>
          <p:cNvSpPr txBox="1"/>
          <p:nvPr/>
        </p:nvSpPr>
        <p:spPr>
          <a:xfrm>
            <a:off x="561395" y="8837564"/>
            <a:ext cx="934196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165" indent="-685165">
              <a:buAutoNum type="arabicPeriod"/>
            </a:pPr>
            <a:r>
              <a:rPr lang="en-US" sz="2800">
                <a:latin typeface="Garamond"/>
                <a:ea typeface="Calibri"/>
                <a:cs typeface="Calibri"/>
              </a:rPr>
              <a:t>Can unsupervised clustering of EHR and ECG data </a:t>
            </a:r>
            <a:r>
              <a:rPr lang="en-US" sz="2800" b="1">
                <a:latin typeface="Garamond"/>
                <a:ea typeface="Calibri"/>
                <a:cs typeface="Calibri"/>
              </a:rPr>
              <a:t>identify clinically meaningful phenotypes </a:t>
            </a:r>
            <a:r>
              <a:rPr lang="en-US" sz="2800">
                <a:latin typeface="Garamond"/>
                <a:ea typeface="Calibri"/>
                <a:cs typeface="Calibri"/>
              </a:rPr>
              <a:t>in Type 2 Diabetes?</a:t>
            </a:r>
          </a:p>
          <a:p>
            <a:pPr marL="685165" indent="-685165">
              <a:buAutoNum type="arabicPeriod"/>
            </a:pPr>
            <a:endParaRPr lang="en-US" sz="2800">
              <a:latin typeface="Garamond"/>
              <a:ea typeface="Calibri"/>
              <a:cs typeface="Calibri"/>
            </a:endParaRPr>
          </a:p>
          <a:p>
            <a:pPr marL="685165" indent="-685165">
              <a:buAutoNum type="arabicPeriod"/>
            </a:pPr>
            <a:r>
              <a:rPr lang="en-US" sz="2800">
                <a:latin typeface="Garamond"/>
                <a:ea typeface="Calibri"/>
                <a:cs typeface="Calibri"/>
              </a:rPr>
              <a:t>Do these subgroups improve </a:t>
            </a:r>
            <a:r>
              <a:rPr lang="en-US" sz="2800" b="1">
                <a:latin typeface="Garamond"/>
                <a:ea typeface="Calibri"/>
                <a:cs typeface="Calibri"/>
              </a:rPr>
              <a:t>Major Adverse Cardiovascular Events predictions</a:t>
            </a:r>
            <a:r>
              <a:rPr lang="en-US" sz="2800">
                <a:latin typeface="Garamond"/>
                <a:ea typeface="Calibri"/>
                <a:cs typeface="Calibri"/>
              </a:rPr>
              <a:t> at 1, 3 and 5 years?</a:t>
            </a:r>
            <a:endParaRPr lang="en-US" sz="2800"/>
          </a:p>
          <a:p>
            <a:endParaRPr lang="en-US" sz="3600">
              <a:latin typeface="Garamond"/>
              <a:ea typeface="Calibri"/>
              <a:cs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F82E60-A1B4-6260-E57D-2DBEAE6336C8}"/>
              </a:ext>
            </a:extLst>
          </p:cNvPr>
          <p:cNvSpPr/>
          <p:nvPr/>
        </p:nvSpPr>
        <p:spPr>
          <a:xfrm flipH="1">
            <a:off x="547745" y="12193231"/>
            <a:ext cx="9324384" cy="7103650"/>
          </a:xfrm>
          <a:prstGeom prst="rect">
            <a:avLst/>
          </a:prstGeom>
          <a:solidFill>
            <a:schemeClr val="bg1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9439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A3BD7A-0BB8-3563-3815-2B5DB7469FD9}"/>
              </a:ext>
            </a:extLst>
          </p:cNvPr>
          <p:cNvSpPr/>
          <p:nvPr/>
        </p:nvSpPr>
        <p:spPr>
          <a:xfrm rot="10800000" flipV="1">
            <a:off x="557194" y="12159879"/>
            <a:ext cx="9305084" cy="783330"/>
          </a:xfrm>
          <a:prstGeom prst="rect">
            <a:avLst/>
          </a:prstGeom>
          <a:solidFill>
            <a:srgbClr val="E8F2FA"/>
          </a:solidFill>
          <a:ln>
            <a:solidFill>
              <a:srgbClr val="AAC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>
                <a:solidFill>
                  <a:srgbClr val="1A4F82"/>
                </a:solidFill>
                <a:latin typeface="Garamond"/>
              </a:rPr>
              <a:t>Evaluation Metrics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5CC19E-9029-776F-B107-25FC7C3A1695}"/>
              </a:ext>
            </a:extLst>
          </p:cNvPr>
          <p:cNvSpPr txBox="1"/>
          <p:nvPr/>
        </p:nvSpPr>
        <p:spPr>
          <a:xfrm>
            <a:off x="1016706" y="13339736"/>
            <a:ext cx="78486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9439">
              <a:latin typeface="Garamond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CECDC4-2D82-3AA4-E970-318D35B0C95D}"/>
              </a:ext>
            </a:extLst>
          </p:cNvPr>
          <p:cNvSpPr txBox="1"/>
          <p:nvPr/>
        </p:nvSpPr>
        <p:spPr>
          <a:xfrm>
            <a:off x="529611" y="12927809"/>
            <a:ext cx="9205213" cy="71145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latin typeface="Garamond"/>
                <a:ea typeface="Calibri"/>
                <a:cs typeface="Calibri"/>
              </a:rPr>
              <a:t>F2 Score </a:t>
            </a:r>
          </a:p>
          <a:p>
            <a:r>
              <a:rPr lang="en-US" sz="2800">
                <a:latin typeface="Garamond"/>
                <a:ea typeface="Calibri"/>
                <a:cs typeface="Calibri"/>
              </a:rPr>
              <a:t>Weighs Recall twice as heavily as Precision to reflect clinical priority that missing a high risk patient carries greater cost than a false alarm</a:t>
            </a:r>
          </a:p>
          <a:p>
            <a:pPr indent="-285750">
              <a:buFont typeface="Arial"/>
              <a:buChar char="•"/>
            </a:pPr>
            <a:endParaRPr lang="en-US" sz="2800">
              <a:latin typeface="Garamond"/>
              <a:ea typeface="Calibri"/>
              <a:cs typeface="Calibri"/>
            </a:endParaRPr>
          </a:p>
          <a:p>
            <a:pPr algn="ctr"/>
            <a:r>
              <a:rPr lang="en-US" sz="2800" i="1">
                <a:latin typeface="Garamond"/>
                <a:ea typeface="Calibri"/>
                <a:cs typeface="Calibri"/>
              </a:rPr>
              <a:t>F2 = (5 </a:t>
            </a:r>
            <a:r>
              <a:rPr lang="en-US" sz="280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· </a:t>
            </a:r>
            <a:r>
              <a:rPr lang="en-US" sz="2800" i="1">
                <a:latin typeface="Garamond"/>
                <a:ea typeface="Calibri"/>
                <a:cs typeface="Calibri"/>
              </a:rPr>
              <a:t>Precision </a:t>
            </a:r>
            <a:r>
              <a:rPr lang="en-US" sz="280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· </a:t>
            </a:r>
            <a:r>
              <a:rPr lang="en-US" sz="2800" i="1">
                <a:latin typeface="Garamond"/>
                <a:ea typeface="Calibri"/>
                <a:cs typeface="Calibri"/>
              </a:rPr>
              <a:t>Recall) / (4 </a:t>
            </a:r>
            <a:r>
              <a:rPr lang="en-US" sz="2800">
                <a:highlight>
                  <a:srgbClr val="FFFFFF"/>
                </a:highlight>
                <a:latin typeface="Aptos"/>
                <a:ea typeface="Calibri"/>
                <a:cs typeface="Calibri"/>
              </a:rPr>
              <a:t>· </a:t>
            </a:r>
            <a:r>
              <a:rPr lang="en-US" sz="2800" i="1">
                <a:latin typeface="Garamond"/>
                <a:ea typeface="Calibri"/>
                <a:cs typeface="Calibri"/>
              </a:rPr>
              <a:t>Precision + Recall)</a:t>
            </a:r>
            <a:endParaRPr lang="en-US" sz="2800">
              <a:latin typeface="Garamond"/>
              <a:ea typeface="Calibri"/>
              <a:cs typeface="Calibri"/>
            </a:endParaRPr>
          </a:p>
          <a:p>
            <a:endParaRPr lang="en-US" sz="2800">
              <a:latin typeface="Garamond"/>
              <a:ea typeface="Calibri"/>
              <a:cs typeface="Calibri"/>
            </a:endParaRPr>
          </a:p>
          <a:p>
            <a:r>
              <a:rPr lang="en-US" sz="2800" b="1">
                <a:latin typeface="Garamond"/>
                <a:ea typeface="Calibri"/>
                <a:cs typeface="Calibri"/>
              </a:rPr>
              <a:t>Recall</a:t>
            </a:r>
            <a:r>
              <a:rPr lang="en-US" sz="2800">
                <a:latin typeface="Garamond"/>
                <a:ea typeface="Calibri"/>
                <a:cs typeface="Calibri"/>
              </a:rPr>
              <a:t>: </a:t>
            </a:r>
            <a:r>
              <a:rPr lang="en-US" sz="2800">
                <a:latin typeface="Garamond"/>
                <a:ea typeface="+mn-lt"/>
                <a:cs typeface="+mn-lt"/>
              </a:rPr>
              <a:t>The proportion of truly high-risk patients correctly identified by the model out of all actual high-risk cases</a:t>
            </a:r>
          </a:p>
          <a:p>
            <a:r>
              <a:rPr lang="en-US" sz="2800" b="1">
                <a:latin typeface="Garamond"/>
                <a:ea typeface="Calibri"/>
                <a:cs typeface="Calibri"/>
              </a:rPr>
              <a:t>Precision</a:t>
            </a:r>
            <a:r>
              <a:rPr lang="en-US" sz="2800">
                <a:latin typeface="Garamond"/>
                <a:ea typeface="Calibri"/>
                <a:cs typeface="Calibri"/>
              </a:rPr>
              <a:t>: </a:t>
            </a:r>
            <a:r>
              <a:rPr lang="en-US" sz="2800">
                <a:latin typeface="Garamond"/>
                <a:ea typeface="+mn-lt"/>
                <a:cs typeface="+mn-lt"/>
              </a:rPr>
              <a:t>The probability that a patient flagged as high-risk by the model is truly high-risk</a:t>
            </a:r>
          </a:p>
          <a:p>
            <a:r>
              <a:rPr lang="en-US" sz="2800" b="1">
                <a:latin typeface="Garamond"/>
                <a:ea typeface="Calibri"/>
                <a:cs typeface="Calibri"/>
              </a:rPr>
              <a:t>Specificity</a:t>
            </a:r>
            <a:r>
              <a:rPr lang="en-US" sz="2800">
                <a:latin typeface="Garamond"/>
                <a:ea typeface="Calibri"/>
                <a:cs typeface="Calibri"/>
              </a:rPr>
              <a:t>: </a:t>
            </a:r>
            <a:r>
              <a:rPr lang="en-US" sz="2800">
                <a:latin typeface="Garamond"/>
                <a:ea typeface="+mn-lt"/>
                <a:cs typeface="+mn-lt"/>
              </a:rPr>
              <a:t>The proportion of truly low-risk patients correctly identified out of all actual low-risk cases</a:t>
            </a:r>
          </a:p>
          <a:p>
            <a:r>
              <a:rPr lang="en-US" sz="2800" b="1">
                <a:latin typeface="Garamond"/>
                <a:ea typeface="Calibri"/>
                <a:cs typeface="Calibri"/>
              </a:rPr>
              <a:t>C-Index</a:t>
            </a:r>
            <a:r>
              <a:rPr lang="en-US" sz="2800">
                <a:latin typeface="Garamond"/>
                <a:ea typeface="Calibri"/>
                <a:cs typeface="Calibri"/>
              </a:rPr>
              <a:t>: Discriminative ranking of high and low risk patients</a:t>
            </a:r>
            <a:endParaRPr lang="en-US" sz="2800"/>
          </a:p>
          <a:p>
            <a:pPr marL="685165" indent="-685165">
              <a:buAutoNum type="arabicPeriod"/>
            </a:pPr>
            <a:endParaRPr lang="en-US" sz="1632"/>
          </a:p>
          <a:p>
            <a:endParaRPr lang="en-US" sz="3600">
              <a:latin typeface="Garamond"/>
              <a:ea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373DCB-D0B6-1D05-7CA1-A5EE834873BE}"/>
              </a:ext>
            </a:extLst>
          </p:cNvPr>
          <p:cNvSpPr txBox="1"/>
          <p:nvPr/>
        </p:nvSpPr>
        <p:spPr>
          <a:xfrm>
            <a:off x="592836" y="20334337"/>
            <a:ext cx="9149311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McCoy, R. G., Swarna, K. S., Deng, Y., Herrin, J. S., Ross, J. S., Kent, D. M., ... &amp; others. (2024). Derivation of an annualized </a:t>
            </a:r>
            <a:r>
              <a:rPr lang="en-US" sz="2800">
                <a:latin typeface="Garamond"/>
                <a:ea typeface="Segoe UI"/>
                <a:cs typeface="Segoe UI"/>
              </a:rPr>
              <a:t>claims-based </a:t>
            </a:r>
            <a:r>
              <a:rPr lang="en-US" sz="2800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major adverse cardiovascular event estimator in type 2 diabetes. </a:t>
            </a:r>
            <a:r>
              <a:rPr lang="en-US" sz="2800" i="1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JACC: Advances</a:t>
            </a:r>
            <a:r>
              <a:rPr lang="en-US" sz="2800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, </a:t>
            </a:r>
            <a:r>
              <a:rPr lang="en-US" sz="2800" i="1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3</a:t>
            </a:r>
            <a:r>
              <a:rPr lang="en-US" sz="2800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(4), Article 100852.</a:t>
            </a:r>
            <a:endParaRPr lang="en-US" sz="2800">
              <a:latin typeface="Garamond"/>
              <a:ea typeface="Segoe UI"/>
              <a:cs typeface="Segoe UI"/>
            </a:endParaRPr>
          </a:p>
          <a:p>
            <a:endParaRPr lang="en-US" sz="2800">
              <a:latin typeface="Garamond"/>
              <a:ea typeface="Segoe UI"/>
              <a:cs typeface="Segoe UI"/>
            </a:endParaRPr>
          </a:p>
          <a:p>
            <a:r>
              <a:rPr lang="en-US" sz="2800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Hand, D. J. (2009). Measuring classifier performance: A coherent alternative to the area under the ROC curve. </a:t>
            </a:r>
            <a:r>
              <a:rPr lang="en-US" sz="2800" i="1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Machine Learning</a:t>
            </a:r>
            <a:r>
              <a:rPr lang="en-US" sz="2800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, </a:t>
            </a:r>
            <a:r>
              <a:rPr lang="en-US" sz="2800" i="1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77</a:t>
            </a:r>
            <a:r>
              <a:rPr lang="en-US" sz="2800">
                <a:solidFill>
                  <a:srgbClr val="000000"/>
                </a:solidFill>
                <a:latin typeface="Garamond"/>
                <a:ea typeface="Segoe UI"/>
                <a:cs typeface="Segoe UI"/>
              </a:rPr>
              <a:t>(1), 103–123.</a:t>
            </a:r>
            <a:endParaRPr lang="en-US" sz="2800">
              <a:latin typeface="Garamond"/>
            </a:endParaRPr>
          </a:p>
          <a:p>
            <a:pPr algn="ctr"/>
            <a:endParaRPr lang="en-US" sz="1800"/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2E7348B9-B8D4-20DF-A6DF-68F59BEDE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074680"/>
              </p:ext>
            </p:extLst>
          </p:nvPr>
        </p:nvGraphicFramePr>
        <p:xfrm>
          <a:off x="30644147" y="8143566"/>
          <a:ext cx="10199493" cy="10295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03227">
                  <a:extLst>
                    <a:ext uri="{9D8B030D-6E8A-4147-A177-3AD203B41FA5}">
                      <a16:colId xmlns:a16="http://schemas.microsoft.com/office/drawing/2014/main" val="2958715239"/>
                    </a:ext>
                  </a:extLst>
                </a:gridCol>
                <a:gridCol w="3017827">
                  <a:extLst>
                    <a:ext uri="{9D8B030D-6E8A-4147-A177-3AD203B41FA5}">
                      <a16:colId xmlns:a16="http://schemas.microsoft.com/office/drawing/2014/main" val="1358069234"/>
                    </a:ext>
                  </a:extLst>
                </a:gridCol>
                <a:gridCol w="4278439">
                  <a:extLst>
                    <a:ext uri="{9D8B030D-6E8A-4147-A177-3AD203B41FA5}">
                      <a16:colId xmlns:a16="http://schemas.microsoft.com/office/drawing/2014/main" val="2313303650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Metric</a:t>
                      </a:r>
                      <a:endParaRPr lang="en-US">
                        <a:effectLst/>
                      </a:endParaRPr>
                    </a:p>
                  </a:txBody>
                  <a:tcPr>
                    <a:lnL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Base</a:t>
                      </a:r>
                      <a:endParaRPr lang="en-US">
                        <a:effectLst/>
                      </a:endParaRPr>
                    </a:p>
                  </a:txBody>
                  <a:tcPr>
                    <a:lnL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Augmented</a:t>
                      </a:r>
                      <a:endParaRPr lang="en-US">
                        <a:effectLst/>
                      </a:endParaRPr>
                    </a:p>
                  </a:txBody>
                  <a:tcPr>
                    <a:lnL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10628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C-Index</a:t>
                      </a:r>
                      <a:endParaRPr lang="en-US">
                        <a:effectLst/>
                      </a:endParaRPr>
                    </a:p>
                  </a:txBody>
                  <a:tcPr>
                    <a:lnL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0.8429</a:t>
                      </a:r>
                      <a:endParaRPr lang="en-US">
                        <a:effectLst/>
                      </a:endParaRPr>
                    </a:p>
                  </a:txBody>
                  <a:tcPr>
                    <a:lnL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0.8443</a:t>
                      </a:r>
                      <a:endParaRPr lang="en-US">
                        <a:effectLst/>
                      </a:endParaRPr>
                    </a:p>
                  </a:txBody>
                  <a:tcPr>
                    <a:lnL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761368"/>
                  </a:ext>
                </a:extLst>
              </a:tr>
            </a:tbl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CE90E537-2FB1-D023-2980-EF876FA32CCD}"/>
              </a:ext>
            </a:extLst>
          </p:cNvPr>
          <p:cNvSpPr txBox="1"/>
          <p:nvPr/>
        </p:nvSpPr>
        <p:spPr>
          <a:xfrm>
            <a:off x="30347675" y="10799061"/>
            <a:ext cx="10753025" cy="85869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latin typeface="Garamond"/>
                <a:ea typeface="Calibri"/>
                <a:cs typeface="Calibri"/>
              </a:rPr>
              <a:t>Clinically Distinct Phenotypes Identified</a:t>
            </a:r>
          </a:p>
          <a:p>
            <a:r>
              <a:rPr lang="en-US" sz="2800">
                <a:latin typeface="Garamond"/>
                <a:ea typeface="Calibri"/>
                <a:cs typeface="Calibri"/>
              </a:rPr>
              <a:t>Unsupervised clustering of EHR and ECG data revealed four phenotypes with significantly different MACE risk profiles </a:t>
            </a:r>
            <a:r>
              <a:rPr lang="en-US" sz="2800" i="1">
                <a:latin typeface="Garamond"/>
                <a:ea typeface="Calibri"/>
                <a:cs typeface="Calibri"/>
              </a:rPr>
              <a:t>(</a:t>
            </a:r>
            <a:r>
              <a:rPr lang="en-US" sz="2800">
                <a:latin typeface="Garamond"/>
                <a:ea typeface="Calibri"/>
                <a:cs typeface="Calibri"/>
              </a:rPr>
              <a:t>Log rank </a:t>
            </a:r>
            <a:r>
              <a:rPr lang="en-US" sz="2800" i="1">
                <a:latin typeface="Garamond"/>
                <a:ea typeface="Calibri"/>
                <a:cs typeface="Calibri"/>
              </a:rPr>
              <a:t>p &lt; 0.0001)</a:t>
            </a:r>
          </a:p>
          <a:p>
            <a:endParaRPr lang="en-US" sz="2800" b="1">
              <a:latin typeface="Garamond"/>
              <a:ea typeface="Calibri"/>
              <a:cs typeface="Calibri"/>
            </a:endParaRPr>
          </a:p>
          <a:p>
            <a:r>
              <a:rPr lang="en-US" sz="2800" b="1">
                <a:latin typeface="Garamond"/>
                <a:ea typeface="Calibri"/>
                <a:cs typeface="Calibri"/>
              </a:rPr>
              <a:t>Strong Discriminative Performance</a:t>
            </a:r>
          </a:p>
          <a:p>
            <a:r>
              <a:rPr lang="en-US" sz="2800">
                <a:latin typeface="Garamond"/>
                <a:ea typeface="Calibri"/>
                <a:cs typeface="Calibri"/>
              </a:rPr>
              <a:t>Both baseline and augmented model achieves a C-Index of 0.84, substantially outperforming the 0.74 benchmark reported in prior literature</a:t>
            </a:r>
          </a:p>
          <a:p>
            <a:endParaRPr lang="en-US" sz="2800">
              <a:latin typeface="Garamond"/>
              <a:ea typeface="Calibri"/>
              <a:cs typeface="Calibri"/>
            </a:endParaRPr>
          </a:p>
          <a:p>
            <a:r>
              <a:rPr lang="en-US" sz="2800" b="1">
                <a:latin typeface="Garamond"/>
                <a:ea typeface="Calibri"/>
                <a:cs typeface="Calibri"/>
              </a:rPr>
              <a:t>Cluster Membership Did Not Improve MACE Prediction</a:t>
            </a:r>
          </a:p>
          <a:p>
            <a:r>
              <a:rPr lang="en-US" sz="2800">
                <a:latin typeface="Garamond"/>
                <a:ea typeface="Calibri"/>
                <a:cs typeface="Calibri"/>
              </a:rPr>
              <a:t>Base and augmented models demonstrated comparable performance across all time horizons, suggesting phenotype information is already captured in the selected features</a:t>
            </a:r>
          </a:p>
          <a:p>
            <a:endParaRPr lang="en-US" sz="2800" b="1">
              <a:latin typeface="Garamond"/>
              <a:ea typeface="Calibri"/>
              <a:cs typeface="Calibri"/>
            </a:endParaRPr>
          </a:p>
          <a:p>
            <a:r>
              <a:rPr lang="en-US" sz="2800" b="1">
                <a:latin typeface="Garamond"/>
                <a:ea typeface="Calibri"/>
                <a:cs typeface="Calibri"/>
              </a:rPr>
              <a:t>High Recall Maintained</a:t>
            </a:r>
          </a:p>
          <a:p>
            <a:r>
              <a:rPr lang="en-US" sz="2800">
                <a:latin typeface="Garamond"/>
                <a:ea typeface="Calibri"/>
                <a:cs typeface="Calibri"/>
              </a:rPr>
              <a:t>Both models flag &gt;86% of true high-risk patients across all time horizons</a:t>
            </a:r>
          </a:p>
          <a:p>
            <a:pPr marL="457200" indent="-457200">
              <a:buFont typeface="Arial"/>
              <a:buChar char="•"/>
            </a:pPr>
            <a:endParaRPr lang="en-US" sz="2800" b="1">
              <a:latin typeface="Garamond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>
              <a:latin typeface="Garamond"/>
              <a:ea typeface="Calibri"/>
              <a:cs typeface="Calibri"/>
            </a:endParaRPr>
          </a:p>
          <a:p>
            <a:endParaRPr lang="en-US" sz="3600">
              <a:latin typeface="Garamond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82BC65-F8B8-C9FA-C64D-455ECA2A7F24}"/>
              </a:ext>
            </a:extLst>
          </p:cNvPr>
          <p:cNvSpPr txBox="1"/>
          <p:nvPr/>
        </p:nvSpPr>
        <p:spPr>
          <a:xfrm>
            <a:off x="30350297" y="23611027"/>
            <a:ext cx="10753025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latin typeface="Garamond"/>
                <a:ea typeface="Calibri"/>
                <a:cs typeface="Calibri"/>
              </a:rPr>
              <a:t>Non-Linear Risk Prediction: </a:t>
            </a:r>
            <a:r>
              <a:rPr lang="en-US" sz="2800">
                <a:latin typeface="Garamond"/>
                <a:ea typeface="Calibri"/>
                <a:cs typeface="Calibri"/>
              </a:rPr>
              <a:t>Neural networks to capture complex feature interactions for more accurate risk stratification</a:t>
            </a:r>
            <a:endParaRPr lang="en-US" sz="1632"/>
          </a:p>
          <a:p>
            <a:endParaRPr lang="en-US" sz="2800">
              <a:latin typeface="Garamond"/>
              <a:ea typeface="Calibri"/>
              <a:cs typeface="Calibri"/>
            </a:endParaRPr>
          </a:p>
          <a:p>
            <a:r>
              <a:rPr lang="en-US" sz="2800" b="1">
                <a:latin typeface="Garamond"/>
                <a:ea typeface="Calibri"/>
                <a:cs typeface="Calibri"/>
              </a:rPr>
              <a:t>Time Dependent Modelling: </a:t>
            </a:r>
            <a:r>
              <a:rPr lang="en-US" sz="2800">
                <a:latin typeface="Garamond"/>
                <a:ea typeface="Calibri"/>
                <a:cs typeface="Calibri"/>
              </a:rPr>
              <a:t>Large language models to incorporate longitudinal patient data and model phenotype switching</a:t>
            </a:r>
            <a:endParaRPr lang="en-US" sz="1200">
              <a:solidFill>
                <a:srgbClr val="0A0A0A"/>
              </a:solidFill>
              <a:highlight>
                <a:srgbClr val="FFFFFF"/>
              </a:highlight>
              <a:latin typeface="Aptos"/>
              <a:ea typeface="Calibri"/>
              <a:cs typeface="Calibri"/>
            </a:endParaRPr>
          </a:p>
          <a:p>
            <a:endParaRPr lang="en-US" sz="2800" b="1">
              <a:latin typeface="Garamond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b="1">
              <a:latin typeface="Garamond"/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>
              <a:latin typeface="Garamond"/>
              <a:ea typeface="Calibri"/>
              <a:cs typeface="Calibri"/>
            </a:endParaRPr>
          </a:p>
          <a:p>
            <a:endParaRPr lang="en-US" sz="3600">
              <a:latin typeface="Garamond"/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87C620-C9B6-D28E-E35B-77508B003DA8}"/>
              </a:ext>
            </a:extLst>
          </p:cNvPr>
          <p:cNvSpPr txBox="1"/>
          <p:nvPr/>
        </p:nvSpPr>
        <p:spPr>
          <a:xfrm>
            <a:off x="30329164" y="19175293"/>
            <a:ext cx="10680062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latin typeface="Garamond"/>
                <a:cs typeface="Segoe UI"/>
              </a:rPr>
              <a:t>Limited Regulariza</a:t>
            </a:r>
            <a:r>
              <a:rPr lang="en-US" sz="2800">
                <a:latin typeface="Garamond"/>
                <a:cs typeface="Segoe UI"/>
              </a:rPr>
              <a:t>tion</a:t>
            </a:r>
            <a:r>
              <a:rPr lang="en-US" sz="2800">
                <a:solidFill>
                  <a:srgbClr val="000000"/>
                </a:solidFill>
                <a:latin typeface="Garamond"/>
                <a:cs typeface="Segoe UI"/>
              </a:rPr>
              <a:t> Tuning — May affect generalization</a:t>
            </a:r>
          </a:p>
          <a:p>
            <a:r>
              <a:rPr lang="en-US" sz="2800">
                <a:latin typeface="Garamond"/>
                <a:cs typeface="Segoe UI"/>
              </a:rPr>
              <a:t>Missingness Bias — Features with high predictive ability may have been excluded </a:t>
            </a:r>
          </a:p>
          <a:p>
            <a:r>
              <a:rPr lang="en-US" sz="2800">
                <a:latin typeface="Garamond"/>
                <a:cs typeface="Segoe UI"/>
              </a:rPr>
              <a:t>Suboptimal Metric Embedding  — Shared absences are treated the same  as shared presence</a:t>
            </a:r>
          </a:p>
          <a:p>
            <a:r>
              <a:rPr lang="en-US" sz="2800">
                <a:latin typeface="Garamond"/>
                <a:cs typeface="Segoe UI"/>
              </a:rPr>
              <a:t>Spherical Clustering Bias — </a:t>
            </a:r>
            <a:r>
              <a:rPr lang="en-US" sz="2800" err="1">
                <a:latin typeface="Garamond"/>
                <a:cs typeface="Segoe UI"/>
              </a:rPr>
              <a:t>KMeans</a:t>
            </a:r>
            <a:r>
              <a:rPr lang="en-US" sz="2800">
                <a:latin typeface="Garamond"/>
                <a:cs typeface="Segoe UI"/>
              </a:rPr>
              <a:t> fails to capture non-spherical clusters</a:t>
            </a:r>
          </a:p>
          <a:p>
            <a:r>
              <a:rPr lang="en-US" sz="2800">
                <a:latin typeface="Garamond"/>
                <a:cs typeface="Segoe UI"/>
              </a:rPr>
              <a:t>Linearity Risk Assumption — Logistic and Cox assumes linear relationships</a:t>
            </a:r>
          </a:p>
          <a:p>
            <a:endParaRPr lang="en-US" sz="2800">
              <a:latin typeface="Garamond"/>
              <a:cs typeface="Segoe UI"/>
            </a:endParaRPr>
          </a:p>
          <a:p>
            <a:endParaRPr lang="en-US" sz="2800">
              <a:latin typeface="Garamond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21" name="Picture 20" descr="A group of graphs showing different types of phenotypes&#10;&#10;AI-generated content may be incorrect.">
            <a:extLst>
              <a:ext uri="{FF2B5EF4-FFF2-40B4-BE49-F238E27FC236}">
                <a16:creationId xmlns:a16="http://schemas.microsoft.com/office/drawing/2014/main" id="{436D2052-A78C-411F-1DC7-6E4A88955D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34" t="5042" r="57687" b="56113"/>
          <a:stretch>
            <a:fillRect/>
          </a:stretch>
        </p:blipFill>
        <p:spPr>
          <a:xfrm>
            <a:off x="11031307" y="11533865"/>
            <a:ext cx="3827673" cy="3466888"/>
          </a:xfrm>
          <a:prstGeom prst="rect">
            <a:avLst/>
          </a:prstGeom>
        </p:spPr>
      </p:pic>
      <p:pic>
        <p:nvPicPr>
          <p:cNvPr id="40" name="Picture 39" descr="A group of graphs showing different types of phenotypes&#10;&#10;AI-generated content may be incorrect.">
            <a:extLst>
              <a:ext uri="{FF2B5EF4-FFF2-40B4-BE49-F238E27FC236}">
                <a16:creationId xmlns:a16="http://schemas.microsoft.com/office/drawing/2014/main" id="{EB850139-912C-CB89-7674-6AD4B12B50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919" t="4128" b="56110"/>
          <a:stretch>
            <a:fillRect/>
          </a:stretch>
        </p:blipFill>
        <p:spPr>
          <a:xfrm>
            <a:off x="16040575" y="11663352"/>
            <a:ext cx="3715400" cy="3382642"/>
          </a:xfrm>
          <a:prstGeom prst="rect">
            <a:avLst/>
          </a:prstGeom>
        </p:spPr>
      </p:pic>
      <p:pic>
        <p:nvPicPr>
          <p:cNvPr id="45" name="Picture 44" descr="A group of graphs showing different types of phenotypes&#10;&#10;AI-generated content may be incorrect.">
            <a:extLst>
              <a:ext uri="{FF2B5EF4-FFF2-40B4-BE49-F238E27FC236}">
                <a16:creationId xmlns:a16="http://schemas.microsoft.com/office/drawing/2014/main" id="{DFC8FB14-1D5F-5FE5-445E-35007FB1ED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7" t="60867" r="58578" b="-181"/>
          <a:stretch>
            <a:fillRect/>
          </a:stretch>
        </p:blipFill>
        <p:spPr>
          <a:xfrm>
            <a:off x="20802600" y="11461730"/>
            <a:ext cx="3667756" cy="3518517"/>
          </a:xfrm>
          <a:prstGeom prst="rect">
            <a:avLst/>
          </a:prstGeom>
        </p:spPr>
      </p:pic>
      <p:pic>
        <p:nvPicPr>
          <p:cNvPr id="48" name="Picture 47" descr="A group of graphs showing different types of phenotypes&#10;&#10;AI-generated content may be incorrect.">
            <a:extLst>
              <a:ext uri="{FF2B5EF4-FFF2-40B4-BE49-F238E27FC236}">
                <a16:creationId xmlns:a16="http://schemas.microsoft.com/office/drawing/2014/main" id="{69C2B6FE-9CE5-6A40-ED04-AE34D66842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26" t="61875" r="1547" b="-88"/>
          <a:stretch>
            <a:fillRect/>
          </a:stretch>
        </p:blipFill>
        <p:spPr>
          <a:xfrm>
            <a:off x="25484931" y="11468291"/>
            <a:ext cx="3710784" cy="3554754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74C5DC5-16F6-0244-EF8D-1D364F116306}"/>
              </a:ext>
            </a:extLst>
          </p:cNvPr>
          <p:cNvSpPr txBox="1"/>
          <p:nvPr/>
        </p:nvSpPr>
        <p:spPr>
          <a:xfrm>
            <a:off x="10339571" y="15038985"/>
            <a:ext cx="19446460" cy="8156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274320" tIns="137160" rIns="274320" bIns="13716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>
                <a:latin typeface="Garamond"/>
                <a:ea typeface="+mn-lt"/>
                <a:cs typeface="+mn-lt"/>
              </a:rPr>
              <a:t>Figure. Radar plots of phenotypic subgroups across standardized mean values of key clinical and ECG features.. Silhouette Score = 0.5</a:t>
            </a:r>
            <a:br>
              <a:rPr lang="en-US" sz="700">
                <a:latin typeface="Garamond"/>
              </a:rPr>
            </a:br>
            <a:endParaRPr lang="en-US" sz="700">
              <a:latin typeface="Garamond"/>
            </a:endParaRPr>
          </a:p>
        </p:txBody>
      </p:sp>
      <p:pic>
        <p:nvPicPr>
          <p:cNvPr id="50" name="Picture 4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B5705FB-A86E-FCF0-F411-3FEC6DD186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" t="5654" r="-160" b="1139"/>
          <a:stretch/>
        </p:blipFill>
        <p:spPr>
          <a:xfrm>
            <a:off x="12491319" y="17235561"/>
            <a:ext cx="14336469" cy="68791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E9742D9-C92B-BC47-D38B-973650ADBBB7}"/>
              </a:ext>
            </a:extLst>
          </p:cNvPr>
          <p:cNvSpPr txBox="1"/>
          <p:nvPr/>
        </p:nvSpPr>
        <p:spPr>
          <a:xfrm>
            <a:off x="25112746" y="3588015"/>
            <a:ext cx="3446174" cy="24406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76200" tIns="38100" rIns="76200" bIns="381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49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899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49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799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488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6985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1483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5980" algn="l" defTabSz="828995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1A4F82"/>
                </a:solidFill>
                <a:latin typeface="Garamond"/>
                <a:ea typeface="Segoe UI"/>
                <a:cs typeface="Segoe UI"/>
              </a:rPr>
              <a:t>Hyperparameter Grid</a:t>
            </a:r>
          </a:p>
          <a:p>
            <a:r>
              <a:rPr lang="en-US" sz="2800" err="1">
                <a:latin typeface="Garamond"/>
                <a:ea typeface="Arial"/>
                <a:cs typeface="Segoe UI"/>
              </a:rPr>
              <a:t>Neighbours</a:t>
            </a:r>
            <a:r>
              <a:rPr lang="en-US" sz="2800">
                <a:latin typeface="Garamond"/>
                <a:ea typeface="Arial"/>
                <a:cs typeface="Segoe UI"/>
              </a:rPr>
              <a:t>: 30, 50, 75</a:t>
            </a:r>
          </a:p>
          <a:p>
            <a:r>
              <a:rPr lang="en-US" sz="2800">
                <a:latin typeface="Garamond"/>
                <a:cs typeface="Segoe UI"/>
              </a:rPr>
              <a:t>Components: 5, 10, 15</a:t>
            </a:r>
          </a:p>
          <a:p>
            <a:r>
              <a:rPr lang="en-US" sz="2800">
                <a:latin typeface="Garamond"/>
                <a:cs typeface="Segoe UI"/>
              </a:rPr>
              <a:t>Clusters: 3 – 5</a:t>
            </a:r>
          </a:p>
          <a:p>
            <a:r>
              <a:rPr lang="en-US" sz="2800">
                <a:latin typeface="Garamond"/>
                <a:cs typeface="Segoe UI"/>
              </a:rPr>
              <a:t>Min Distance: 0.0</a:t>
            </a:r>
          </a:p>
          <a:p>
            <a:pPr algn="ctr"/>
            <a:endParaRPr lang="en-US" sz="136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FC1479-3BEE-0538-2669-4258BFA64C76}"/>
              </a:ext>
            </a:extLst>
          </p:cNvPr>
          <p:cNvSpPr txBox="1"/>
          <p:nvPr/>
        </p:nvSpPr>
        <p:spPr>
          <a:xfrm>
            <a:off x="20402904" y="7549762"/>
            <a:ext cx="9408212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Garamond"/>
                <a:ea typeface="Arial"/>
                <a:cs typeface="Arial"/>
              </a:rPr>
              <a:t>Prognostic Modelling — </a:t>
            </a:r>
            <a:r>
              <a:rPr lang="en-US" sz="2800" b="1">
                <a:solidFill>
                  <a:srgbClr val="000000"/>
                </a:solidFill>
                <a:highlight>
                  <a:srgbClr val="FFFFFF"/>
                </a:highlight>
                <a:latin typeface="Garamond"/>
                <a:ea typeface="Arial"/>
                <a:cs typeface="Arial"/>
              </a:rPr>
              <a:t>3 Logistic Regression 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Garamond"/>
                <a:ea typeface="Arial"/>
                <a:cs typeface="Arial"/>
              </a:rPr>
              <a:t>models (1,3,5 Years) with features and cluster membership, 0.05 threshold sweep</a:t>
            </a:r>
            <a:r>
              <a:rPr lang="en-US" sz="2800">
                <a:latin typeface="Garamond"/>
                <a:ea typeface="Arial"/>
                <a:cs typeface="Arial"/>
              </a:rPr>
              <a:t>​</a:t>
            </a:r>
            <a:endParaRPr lang="en-US" sz="1800"/>
          </a:p>
          <a:p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  <a:latin typeface="Garamond"/>
                <a:ea typeface="Arial"/>
                <a:cs typeface="Arial"/>
              </a:rPr>
              <a:t>Selection — Optimal configuration maximizes average F2 Score</a:t>
            </a:r>
          </a:p>
          <a:p>
            <a:pPr algn="ctr"/>
            <a:endParaRPr lang="en-US" sz="18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BC53E4D-98F4-49D6-4B28-4C93E108B6AA}"/>
              </a:ext>
            </a:extLst>
          </p:cNvPr>
          <p:cNvSpPr txBox="1"/>
          <p:nvPr/>
        </p:nvSpPr>
        <p:spPr>
          <a:xfrm>
            <a:off x="19945960" y="7569759"/>
            <a:ext cx="109762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Garamond"/>
              </a:rPr>
              <a:t>3.</a:t>
            </a:r>
          </a:p>
          <a:p>
            <a:endParaRPr lang="en-US" sz="2800">
              <a:latin typeface="Garamond"/>
            </a:endParaRPr>
          </a:p>
          <a:p>
            <a:r>
              <a:rPr lang="en-US" sz="2800">
                <a:latin typeface="Garamond"/>
              </a:rPr>
              <a:t>4.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D35647-E749-5165-49C6-3923123E5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48690"/>
              </p:ext>
            </p:extLst>
          </p:nvPr>
        </p:nvGraphicFramePr>
        <p:xfrm>
          <a:off x="30584088" y="4002857"/>
          <a:ext cx="10372725" cy="36035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00325">
                  <a:extLst>
                    <a:ext uri="{9D8B030D-6E8A-4147-A177-3AD203B41FA5}">
                      <a16:colId xmlns:a16="http://schemas.microsoft.com/office/drawing/2014/main" val="3889320025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4070671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4878053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9577602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06086780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039979739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811070375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Metric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Year 1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Year 3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Year 5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14955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Base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Aug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Base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Aug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Base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Aug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76987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Precision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0.3757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0.3853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0.4939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0.4988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0.5933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0.6037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01317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Recall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0.8770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0.8638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0.9057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0.9047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0.9467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0.9391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48528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Specificity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0.7463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0.7601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0.7026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0.7086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0.6333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0.6516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97077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Accuracy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0.7657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0.7754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0.7518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0.7562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0.7464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0.7554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30189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F2 Score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0.6922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0.6918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0.7762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0.7781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>
                          <a:effectLst/>
                          <a:latin typeface="Garamond" panose="02020404030301010803" pitchFamily="18" charset="0"/>
                        </a:rPr>
                        <a:t>0.8459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3375"/>
                        </a:lnSpc>
                        <a:buNone/>
                      </a:pPr>
                      <a:r>
                        <a:rPr lang="en-US" sz="2800" b="1">
                          <a:effectLst/>
                          <a:latin typeface="Garamond" panose="02020404030301010803" pitchFamily="18" charset="0"/>
                        </a:rPr>
                        <a:t>0.8452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55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122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自定义</PresentationFormat>
  <Slides>1</Slides>
  <Notes>0</Notes>
  <HiddenSlides>0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7</cp:revision>
  <dcterms:created xsi:type="dcterms:W3CDTF">2026-05-24T18:38:59Z</dcterms:created>
  <dcterms:modified xsi:type="dcterms:W3CDTF">2026-06-07T12:57:31Z</dcterms:modified>
</cp:coreProperties>
</file>